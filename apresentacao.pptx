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APLICAÇÃO DE SISTEMAS INTELIGENTES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Classificação de Ultrassom Ovariano com CNNs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8DA0B3"/>
                </a:solidFill>
                <a:latin typeface="Calibri"/>
              </a:rPr>
              <a:t>Comparativo de 4 arquiteturas, 32 variações e ensemble final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4846320"/>
            <a:ext cx="27432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EQUIPE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Membro 1  ·  Membro 2  ·  Membro 3  ·  Membro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DA0B3"/>
                </a:solidFill>
                <a:latin typeface="Calibri"/>
              </a:rPr>
              <a:t>github.com/Wakian/ovary-image-classification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O Problema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Classificação de imagens de ultrassom ovariano em 3 categorias clínicas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291840" cy="201168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29184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DOMINANT FOLLICLE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29 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DA0B3"/>
                </a:solidFill>
                <a:latin typeface="Calibri"/>
              </a:rPr>
              <a:t>amostras na validação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291840" cy="201168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29184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8 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DA0B3"/>
                </a:solidFill>
                <a:latin typeface="Calibri"/>
              </a:rPr>
              <a:t>amostras na validação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645920"/>
            <a:ext cx="3291840" cy="201168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645920"/>
            <a:ext cx="329184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PCO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60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24 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DA0B3"/>
                </a:solidFill>
                <a:latin typeface="Calibri"/>
              </a:rPr>
              <a:t>amostras na validação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Por que não é trivial?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105156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B4D8"/>
                </a:solidFill>
                <a:latin typeface="Calibri"/>
              </a:rPr>
              <a:t>●  </a:t>
            </a:r>
            <a:r>
              <a:rPr sz="1500">
                <a:solidFill>
                  <a:srgbClr val="0B2545"/>
                </a:solidFill>
                <a:latin typeface="Calibri"/>
              </a:rPr>
              <a:t>Dataset pequeno (61 imagens de validação) — alto risco de overfitting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B4D8"/>
                </a:solidFill>
                <a:latin typeface="Calibri"/>
              </a:rPr>
              <a:t>●  </a:t>
            </a:r>
            <a:r>
              <a:rPr sz="1500">
                <a:solidFill>
                  <a:srgbClr val="0B2545"/>
                </a:solidFill>
                <a:latin typeface="Calibri"/>
              </a:rPr>
              <a:t>Forte desbalanceamento entre classes (Normal com apenas 8 amostras)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B4D8"/>
                </a:solidFill>
                <a:latin typeface="Calibri"/>
              </a:rPr>
              <a:t>●  </a:t>
            </a:r>
            <a:r>
              <a:rPr sz="1500">
                <a:solidFill>
                  <a:srgbClr val="0B2545"/>
                </a:solidFill>
                <a:latin typeface="Calibri"/>
              </a:rPr>
              <a:t>Variabilidade clínica nas imagens — qualidade, ângulo e sombreamento variam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B4D8"/>
                </a:solidFill>
                <a:latin typeface="Calibri"/>
              </a:rPr>
              <a:t>●  </a:t>
            </a:r>
            <a:r>
              <a:rPr sz="1500">
                <a:solidFill>
                  <a:srgbClr val="0B2545"/>
                </a:solidFill>
                <a:latin typeface="Calibri"/>
              </a:rPr>
              <a:t>Confusão visual entre Dominant Follicle e PCO (formas similares)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1. Pipeline de Augmentation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Decisão crítica: dividir treino/teste ANTES de aplicar augmentation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Fluxo do main.py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4825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Carregar imagens originais por classe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5117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Split estratificado 80/20 (seed=42) — ANTES de aug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5409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Copiar test/ (originais apenas — nunca aumentado)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5701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Aumentar train/ até 1000 imagens por classe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0599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Pronto para os 4 notebooks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Técnicas (albumentations)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65960"/>
            <a:ext cx="512064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▸  </a:t>
            </a:r>
            <a:r>
              <a:rPr sz="1300">
                <a:solidFill>
                  <a:srgbClr val="0B2545"/>
                </a:solidFill>
                <a:latin typeface="Calibri"/>
              </a:rPr>
              <a:t>HorizontalFlip · VerticalFlip · Rotate ±15°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▸  </a:t>
            </a:r>
            <a:r>
              <a:rPr sz="1300">
                <a:solidFill>
                  <a:srgbClr val="0B2545"/>
                </a:solidFill>
                <a:latin typeface="Calibri"/>
              </a:rPr>
              <a:t>ShiftScaleRotate · RandomBrightnessContrast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▸  </a:t>
            </a:r>
            <a:r>
              <a:rPr sz="1300">
                <a:solidFill>
                  <a:srgbClr val="0B2545"/>
                </a:solidFill>
                <a:latin typeface="Calibri"/>
              </a:rPr>
              <a:t>GaussianBlur · RandomGamma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▸  </a:t>
            </a:r>
            <a:r>
              <a:rPr sz="1300">
                <a:solidFill>
                  <a:srgbClr val="0B2545"/>
                </a:solidFill>
                <a:latin typeface="Calibri"/>
              </a:rPr>
              <a:t>ElasticTransform · GridDistortion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▸  </a:t>
            </a:r>
            <a:r>
              <a:rPr sz="1300">
                <a:solidFill>
                  <a:srgbClr val="0B2545"/>
                </a:solidFill>
                <a:latin typeface="Calibri"/>
              </a:rPr>
              <a:t>CoarseDropout (oclusão simulada)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29200"/>
            <a:ext cx="10881360" cy="15544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029200"/>
            <a:ext cx="109728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12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POR QUE SPLIT ANTES DA AUGMENTATION?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 aumentássemos primeiro, versões da MESMA imagem cairiam tanto em train quanto em test — vazamento severo de dados. A acurácia inflada seria fake. Por isso o test/ contém apenas originais — garantia matemática de zero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2. Metodologia Experimental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4 membros × 8 variações = 32 experimentos, em escala progressiva de complexidade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06040" cy="146304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6060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MEMBROS DA EQUIPE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554480"/>
            <a:ext cx="2606040" cy="146304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554480"/>
            <a:ext cx="26060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060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ARQUITETURAS TESTADAS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2606040" cy="146304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26060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VARIAÇÕES EXECUTADAS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554480"/>
            <a:ext cx="2606040" cy="146304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554480"/>
            <a:ext cx="26060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8308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060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NÍVEIS DE INTENSIDADE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Escala de Peso das Variações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228600" cy="457200"/>
          </a:xfrm>
          <a:prstGeom prst="rect">
            <a:avLst/>
          </a:prstGeom>
          <a:solidFill>
            <a:srgbClr val="C9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MUITO LEVE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3434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Backbone congelado, cabeça simples, aug mínima, 10–15 ép.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64608"/>
            <a:ext cx="228600" cy="45720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103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LEVE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910328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1 bloco descongelado, aug básica, scheduler opcional, 20–25 ép.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431536"/>
            <a:ext cx="228600" cy="457200"/>
          </a:xfrm>
          <a:prstGeom prst="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4772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MÉDIO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477256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2–3 blocos descongelados, BN+Dropout, aug moderada, 30–40 ép.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998464"/>
            <a:ext cx="228600" cy="45720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604418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PESADO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6044184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FT completo, CutMix/RandAug, TTA, Label Smoothing, 50+ ép.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3.1 Membro 1 — EfficientNet (B2 → B3)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8 variações: do baseline congelado ao fine-tuning completo + TTA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4572000" cy="2194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09728" cy="2194560"/>
          </a:xfrm>
          <a:prstGeom prst="rect">
            <a:avLst/>
          </a:prstGeom>
          <a:solidFill>
            <a:srgbClr val="F4C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C142"/>
                </a:solidFill>
                <a:latin typeface="Calibri"/>
              </a:rPr>
              <a:t>MELHOR 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V6: EfficientNet-B2 (2 blocos livres, 256px)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F1 MACRO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0.90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63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0.93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4572000" cy="228600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PRINCIPAL APRENDIZADO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4114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Liberar 2 blocos finais + aumento de resolução para 256px deu o melhor da família B2. Surpresa: o backbone maior B3 com FT completo (V7) PIOROU — excesso de parâmetros não compensa em dataset pequeno. O B3 só voltou a performar com SE block + RandAugment + Label Smoothing (V8).</a:t>
            </a:r>
          </a:p>
        </p:txBody>
      </p:sp>
      <p:pic>
        <p:nvPicPr>
          <p:cNvPr id="17" name="Picture 16" descr="mem_1_f1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217920" cy="23980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52120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B6E"/>
                </a:solidFill>
                <a:latin typeface="Calibri"/>
              </a:rPr>
              <a:t>Comparativo F1 Macro vs Accuracy — 8 variações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3.2 Membro 2 — ResNet / ResNeXt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8 variações: do baseline congelado ao fine-tuning completo + TTA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4572000" cy="2194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09728" cy="2194560"/>
          </a:xfrm>
          <a:prstGeom prst="rect">
            <a:avLst/>
          </a:prstGeom>
          <a:solidFill>
            <a:srgbClr val="F4C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C142"/>
                </a:solidFill>
                <a:latin typeface="Calibri"/>
              </a:rPr>
              <a:t>MELHOR 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V5: ResNet-50 (layer3+4 livres) e V8 ResNeXt-50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F1 MACRO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0.89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63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0.92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4572000" cy="228600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PRINCIPAL APRENDIZADO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4114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Liberar 2 blocos residuais (layer3+4) foi o ponto-doce. O ResNet-101 (V4) NÃO superou o ResNet-50 — profundidade extra desperdiçada. ResNeXt com RandAugment + Label Smoothing igualou o melhor com mais robustez na precisão (0.93).</a:t>
            </a:r>
          </a:p>
        </p:txBody>
      </p:sp>
      <p:pic>
        <p:nvPicPr>
          <p:cNvPr id="17" name="Picture 16" descr="mem_2_f1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217920" cy="2423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52120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B6E"/>
                </a:solidFill>
                <a:latin typeface="Calibri"/>
              </a:rPr>
              <a:t>Comparativo F1 Macro vs Accuracy — 8 variações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3.3 Membro 3 — DenseNet (121 → 169)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8 variações: do baseline congelado ao fine-tuning completo + TTA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4572000" cy="2194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09728" cy="2194560"/>
          </a:xfrm>
          <a:prstGeom prst="rect">
            <a:avLst/>
          </a:prstGeom>
          <a:solidFill>
            <a:srgbClr val="F4C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C142"/>
                </a:solidFill>
                <a:latin typeface="Calibri"/>
              </a:rPr>
              <a:t>MELHOR 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V7: DenseNet-121 FT completo + TTA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F1 MACRO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0.92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63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0.93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4572000" cy="228600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PRINCIPAL APRENDIZADO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4114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DenseNet brilhou em dataset pequeno graças à reutilização de features. Mesmo congelado (V1) já chegou a F1=0.83. Liberar DenseBlocks 3+4 + FT completo + CutMix + TTA levou ao F1=0.92. DN-169 não compensou — DN-121 é suficiente para este problema.</a:t>
            </a:r>
          </a:p>
        </p:txBody>
      </p:sp>
      <p:pic>
        <p:nvPicPr>
          <p:cNvPr id="17" name="Picture 16" descr="mem_3_f1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217920" cy="23932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52120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B6E"/>
                </a:solidFill>
                <a:latin typeface="Calibri"/>
              </a:rPr>
              <a:t>Comparativo F1 Macro vs Accuracy — 8 variações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3.4 Membro 4 — ConvNeXt / MobileNetV3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8 variações: do baseline congelado ao fine-tuning completo + TTA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4572000" cy="2194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09728" cy="2194560"/>
          </a:xfrm>
          <a:prstGeom prst="rect">
            <a:avLst/>
          </a:prstGeom>
          <a:solidFill>
            <a:srgbClr val="F4C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C142"/>
                </a:solidFill>
                <a:latin typeface="Calibri"/>
              </a:rPr>
              <a:t>MELHOR 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🏆 V8: ConvNeXt-Small FT + RandAugment + 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F1 MACRO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0.94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63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0.97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4572000" cy="228600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PRINCIPAL APRENDIZADO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4114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VENCEDOR ABSOLUTO DO GRUPO. ConvNeXt moderno (estilo Transformer) com FT completo, RandAugment, Label Smoothing 0.1 e WD 1e-4 atingiu F1=0.94 e Accuracy=0.97. MobileNetV3-Large serviu como referência leve (V1, F1=0.77). O salto MobileNet → ConvNeXt-Tiny mostrou o poder das arquiteturas modernas.</a:t>
            </a:r>
          </a:p>
        </p:txBody>
      </p:sp>
      <p:pic>
        <p:nvPicPr>
          <p:cNvPr id="17" name="Picture 16" descr="mem_4_f1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217920" cy="2420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52120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B6E"/>
                </a:solidFill>
                <a:latin typeface="Calibri"/>
              </a:rPr>
              <a:t>Comparativo F1 Macro vs Accuracy — 8 variações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4. Comparativo Global — Top 5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Das 32 variações testadas, estes 5 lideraram por F1 Macro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10972800" cy="4572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64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ESTRATÉGIA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764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F1 MACRO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764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48840"/>
            <a:ext cx="10972800" cy="7772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137160" cy="777240"/>
          </a:xfrm>
          <a:prstGeom prst="rect">
            <a:avLst/>
          </a:prstGeom>
          <a:solidFill>
            <a:srgbClr val="F4C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4C142"/>
                </a:solidFill>
                <a:latin typeface="Calibri"/>
              </a:rP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3500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M4 V8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35000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ConvNeXt-Small FT + RandAug + 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134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0.94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3134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3718C"/>
                </a:solidFill>
                <a:latin typeface="Calibri"/>
              </a:rPr>
              <a:t>0.97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92608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089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#2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12724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M3 V7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127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DenseNet-121 FT completo + TTA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0906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0.92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0906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3718C"/>
                </a:solidFill>
                <a:latin typeface="Calibri"/>
              </a:rPr>
              <a:t>0.93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703320"/>
            <a:ext cx="10972800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8862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90448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M3 V5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9044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DenseNet-121 blocos 3+4 livres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86791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0.91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86791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3718C"/>
                </a:solidFill>
                <a:latin typeface="Calibri"/>
              </a:rPr>
              <a:t>0.93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48056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6634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#4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68172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M1 V6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468172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EfficientNet-B2 (2 blocos, 256px)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6451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0.90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6451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3718C"/>
                </a:solidFill>
                <a:latin typeface="Calibri"/>
              </a:rPr>
              <a:t>0.93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5257800"/>
            <a:ext cx="10972800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4406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#5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45896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M3 V6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545896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B2545"/>
                </a:solidFill>
                <a:latin typeface="Calibri"/>
              </a:rPr>
              <a:t>DenseNet-169 (blocos 3+4, 256px)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4223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0.90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54223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3718C"/>
                </a:solidFill>
                <a:latin typeface="Calibri"/>
              </a:rPr>
              <a:t>0.93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B6E"/>
                </a:solidFill>
                <a:latin typeface="Calibri"/>
              </a:rPr>
              <a:t>Observação: os modelos efetivamente usados no ensemble final NÃO incluíram o M4 V8 (vencedor). Iteração futura prevê reexecutar o ensemble com ele.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5. Ensemble Final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Combinação de 5 modelos selecionados — Etapa 5 da 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Estratégias testadas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Média simples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B6E"/>
                </a:solidFill>
                <a:latin typeface="Calibri"/>
              </a:rPr>
              <a:t>Soma das probabilidades dividida por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Média ponderada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B6E"/>
                </a:solidFill>
                <a:latin typeface="Calibri"/>
              </a:rPr>
              <a:t>Pesos = F1 individual normalizado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Voto majoritário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B6E"/>
                </a:solidFill>
                <a:latin typeface="Calibri"/>
              </a:rPr>
              <a:t>Argmax mais frequente entre os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37760"/>
            <a:ext cx="5029200" cy="146304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MODELOS INCLUÍDOS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M2 V6  ·  M3 V5  ·  M3 V6  ·  M4 V2  ·  M4 V5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DA0B3"/>
                </a:solidFill>
                <a:latin typeface="Calibri"/>
              </a:rPr>
              <a:t>ResNeXt + 2× DenseNet + 2× ConvNeXt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45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Ganho sobre o melhor individual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286000"/>
            <a:ext cx="2606040" cy="2011680"/>
          </a:xfrm>
          <a:prstGeom prst="rect">
            <a:avLst/>
          </a:prstGeom>
          <a:solidFill>
            <a:srgbClr val="8DA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MELHOR INDIVIDUAL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8346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M3 V6  (DN-169)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461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F1 MACRO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4747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0.9025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2286000"/>
            <a:ext cx="2606040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468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MELHOR 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8346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Média simples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2461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F1 MACRO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4747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0.9269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572000"/>
            <a:ext cx="5486400" cy="12801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709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4C142"/>
                </a:solidFill>
                <a:latin typeface="Calibri"/>
              </a:rPr>
              <a:t>GANHO DO ENSEMBLE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07492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+0.0244 em F1   ·   +0.0164 em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Conclusões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50292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5B6E"/>
                </a:solidFill>
                <a:latin typeface="Calibri"/>
              </a:rPr>
              <a:t>O que aprendemos sobre CNNs em datasets médicos pequenos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✓  O QUE FUNCIONOU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2120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Liberar 2–3 blocos do backbone (não congelar nem treinar tudo)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DenseNet em dataset pequeno — reutilização de features venceu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ConvNeXt + RandAugment + Label Smoothing nas variações pesadas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Ensemble com média simples: +2.4pp F1 sobre o melhor individual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B4D8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Split treino/teste ANTES de augmentation (sem leakage)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691640"/>
            <a:ext cx="54864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✗  O QUE NÃO COMPENSOU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52120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Backbones mais profundos (ResNet-101, DN-169) sem ganho real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EfficientNet-B3 com FT completo (V7) degradou vs B2 mais simples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Dropout adicional sem fine-tuning — apenas a cabeça não basta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Voto majoritário — perdeu em F1 vs média de probabilidades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●  </a:t>
            </a:r>
            <a:r>
              <a:rPr sz="1300">
                <a:solidFill>
                  <a:srgbClr val="0B2545"/>
                </a:solidFill>
                <a:latin typeface="Calibri"/>
              </a:rPr>
              <a:t>Classe Normal continua difícil (8 amostras de validação)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00B4D8"/>
                </a:solidFill>
                <a:latin typeface="Calibri"/>
              </a:rPr>
              <a:t>Perguntas?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REPOSITÓRIO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github.com/Wakian/ovary-image-classification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DA0B3"/>
                </a:solidFill>
                <a:latin typeface="Calibri"/>
              </a:rPr>
              <a:t>Inclui: 4 notebooks de treino, ensemble notebook, 32 screenshots, relatório completo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